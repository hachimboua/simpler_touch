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CF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8ECF0"/>
                </a:solidFill>
                <a:latin typeface="Calibri"/>
              </a:rPr>
              <a:t>Measured FPS vs Process Scale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detect_every_n = 1</c:v>
                </c:pt>
              </c:strCache>
            </c:strRef>
          </c:tx>
          <c:spPr>
            <a:solidFill>
              <a:srgbClr val="5A9ACC"/>
            </a:solidFill>
            <a:ln w="31750" cap="flat">
              <a:solidFill>
                <a:srgbClr val="5A9A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A9ACC"/>
              </a:solidFill>
              <a:ln w="9525" cap="flat">
                <a:solidFill>
                  <a:srgbClr val="5A9A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0.25</c:v>
                  </c:pt>
                  <c:pt idx="1">
                    <c:v>0.40</c:v>
                  </c:pt>
                  <c:pt idx="2">
                    <c:v>0.50</c:v>
                  </c:pt>
                  <c:pt idx="3">
                    <c:v>0.65</c:v>
                  </c:pt>
                  <c:pt idx="4">
                    <c:v>0.80</c:v>
                  </c:pt>
                  <c:pt idx="5">
                    <c:v>1.00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52</c:v>
                </c:pt>
                <c:pt idx="2">
                  <c:v>44</c:v>
                </c:pt>
                <c:pt idx="3">
                  <c:v>33</c:v>
                </c:pt>
                <c:pt idx="4">
                  <c:v>22</c:v>
                </c:pt>
                <c:pt idx="5">
                  <c:v>14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detect_every_n = 2</c:v>
                </c:pt>
              </c:strCache>
            </c:strRef>
          </c:tx>
          <c:spPr>
            <a:solidFill>
              <a:srgbClr val="00C8F0"/>
            </a:solidFill>
            <a:ln w="31750" cap="flat">
              <a:solidFill>
                <a:srgbClr val="00C8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C8F0"/>
              </a:solidFill>
              <a:ln w="9525" cap="flat">
                <a:solidFill>
                  <a:srgbClr val="00C8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0.25</c:v>
                  </c:pt>
                  <c:pt idx="1">
                    <c:v>0.40</c:v>
                  </c:pt>
                  <c:pt idx="2">
                    <c:v>0.50</c:v>
                  </c:pt>
                  <c:pt idx="3">
                    <c:v>0.65</c:v>
                  </c:pt>
                  <c:pt idx="4">
                    <c:v>0.80</c:v>
                  </c:pt>
                  <c:pt idx="5">
                    <c:v>1.00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60</c:v>
                </c:pt>
                <c:pt idx="2">
                  <c:v>58</c:v>
                </c:pt>
                <c:pt idx="3">
                  <c:v>48</c:v>
                </c:pt>
                <c:pt idx="4">
                  <c:v>35</c:v>
                </c:pt>
                <c:pt idx="5">
                  <c:v>24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detect_every_n = 3</c:v>
                </c:pt>
              </c:strCache>
            </c:strRef>
          </c:tx>
          <c:spPr>
            <a:solidFill>
              <a:srgbClr val="F06090"/>
            </a:solidFill>
            <a:ln w="31750" cap="flat">
              <a:solidFill>
                <a:srgbClr val="F06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06090"/>
              </a:solidFill>
              <a:ln w="9525" cap="flat">
                <a:solidFill>
                  <a:srgbClr val="F06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0.25</c:v>
                  </c:pt>
                  <c:pt idx="1">
                    <c:v>0.40</c:v>
                  </c:pt>
                  <c:pt idx="2">
                    <c:v>0.50</c:v>
                  </c:pt>
                  <c:pt idx="3">
                    <c:v>0.65</c:v>
                  </c:pt>
                  <c:pt idx="4">
                    <c:v>0.80</c:v>
                  </c:pt>
                  <c:pt idx="5">
                    <c:v>1.00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58</c:v>
                </c:pt>
                <c:pt idx="4">
                  <c:v>47</c:v>
                </c:pt>
                <c:pt idx="5">
                  <c:v>33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A9A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7A8A9A"/>
                    </a:solidFill>
                    <a:latin typeface="Calibri"/>
                  </a:rPr>
                  <a:t>process_scale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A9A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2A33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A9A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A9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418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548640"/>
            <a:ext cx="2743200" cy="27432"/>
          </a:xfrm>
          <a:prstGeom prst="rect">
            <a:avLst/>
          </a:prstGeom>
          <a:solidFill>
            <a:srgbClr val="00C8F0">
              <a:alpha val="2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621792"/>
            <a:ext cx="2743200" cy="27432"/>
          </a:xfrm>
          <a:prstGeom prst="rect">
            <a:avLst/>
          </a:prstGeom>
          <a:solidFill>
            <a:srgbClr val="00C8F0">
              <a:alpha val="27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694944"/>
            <a:ext cx="2743200" cy="27432"/>
          </a:xfrm>
          <a:prstGeom prst="rect">
            <a:avLst/>
          </a:prstGeom>
          <a:solidFill>
            <a:srgbClr val="00C8F0">
              <a:alpha val="34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768096"/>
            <a:ext cx="2743200" cy="27432"/>
          </a:xfrm>
          <a:prstGeom prst="rect">
            <a:avLst/>
          </a:prstGeom>
          <a:solidFill>
            <a:srgbClr val="00C8F0">
              <a:alpha val="41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841248"/>
            <a:ext cx="2743200" cy="27432"/>
          </a:xfrm>
          <a:prstGeom prst="rect">
            <a:avLst/>
          </a:prstGeom>
          <a:solidFill>
            <a:srgbClr val="00C8F0">
              <a:alpha val="48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914400"/>
            <a:ext cx="2743200" cy="27432"/>
          </a:xfrm>
          <a:prstGeom prst="rect">
            <a:avLst/>
          </a:prstGeom>
          <a:solidFill>
            <a:srgbClr val="00C8F0">
              <a:alpha val="55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987552"/>
            <a:ext cx="2743200" cy="27432"/>
          </a:xfrm>
          <a:prstGeom prst="rect">
            <a:avLst/>
          </a:prstGeom>
          <a:solidFill>
            <a:srgbClr val="00C8F0">
              <a:alpha val="6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060704"/>
            <a:ext cx="2743200" cy="27432"/>
          </a:xfrm>
          <a:prstGeom prst="rect">
            <a:avLst/>
          </a:prstGeom>
          <a:solidFill>
            <a:srgbClr val="00C8F0">
              <a:alpha val="69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1133856"/>
            <a:ext cx="2743200" cy="27432"/>
          </a:xfrm>
          <a:prstGeom prst="rect">
            <a:avLst/>
          </a:prstGeom>
          <a:solidFill>
            <a:srgbClr val="00C8F0">
              <a:alpha val="76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303520"/>
            <a:ext cx="36576" cy="36576"/>
          </a:xfrm>
          <a:prstGeom prst="ellipse">
            <a:avLst/>
          </a:prstGeom>
          <a:solidFill>
            <a:srgbClr val="00C8F0">
              <a:alpha val="4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5303520"/>
            <a:ext cx="36576" cy="36576"/>
          </a:xfrm>
          <a:prstGeom prst="ellipse">
            <a:avLst/>
          </a:prstGeom>
          <a:solidFill>
            <a:srgbClr val="00C8F0">
              <a:alpha val="4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5303520"/>
            <a:ext cx="36576" cy="36576"/>
          </a:xfrm>
          <a:prstGeom prst="ellipse">
            <a:avLst/>
          </a:prstGeom>
          <a:solidFill>
            <a:srgbClr val="00C8F0">
              <a:alpha val="4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5303520"/>
            <a:ext cx="36576" cy="36576"/>
          </a:xfrm>
          <a:prstGeom prst="ellipse">
            <a:avLst/>
          </a:prstGeom>
          <a:solidFill>
            <a:srgbClr val="00C8F0">
              <a:alpha val="4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5303520"/>
            <a:ext cx="36576" cy="36576"/>
          </a:xfrm>
          <a:prstGeom prst="ellipse">
            <a:avLst/>
          </a:prstGeom>
          <a:solidFill>
            <a:srgbClr val="00C8F0">
              <a:alpha val="4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468112"/>
            <a:ext cx="36576" cy="36576"/>
          </a:xfrm>
          <a:prstGeom prst="ellipse">
            <a:avLst/>
          </a:prstGeom>
          <a:solidFill>
            <a:srgbClr val="00C8F0">
              <a:alpha val="34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468112"/>
            <a:ext cx="36576" cy="36576"/>
          </a:xfrm>
          <a:prstGeom prst="ellipse">
            <a:avLst/>
          </a:prstGeom>
          <a:solidFill>
            <a:srgbClr val="00C8F0">
              <a:alpha val="34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5468112"/>
            <a:ext cx="36576" cy="36576"/>
          </a:xfrm>
          <a:prstGeom prst="ellipse">
            <a:avLst/>
          </a:prstGeom>
          <a:solidFill>
            <a:srgbClr val="00C8F0">
              <a:alpha val="34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" y="5468112"/>
            <a:ext cx="36576" cy="36576"/>
          </a:xfrm>
          <a:prstGeom prst="ellipse">
            <a:avLst/>
          </a:prstGeom>
          <a:solidFill>
            <a:srgbClr val="00C8F0">
              <a:alpha val="34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7008" y="5468112"/>
            <a:ext cx="36576" cy="36576"/>
          </a:xfrm>
          <a:prstGeom prst="ellipse">
            <a:avLst/>
          </a:prstGeom>
          <a:solidFill>
            <a:srgbClr val="00C8F0">
              <a:alpha val="34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632704"/>
            <a:ext cx="36576" cy="36576"/>
          </a:xfrm>
          <a:prstGeom prst="ellipse">
            <a:avLst/>
          </a:prstGeom>
          <a:solidFill>
            <a:srgbClr val="00C8F0">
              <a:alpha val="28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5632704"/>
            <a:ext cx="36576" cy="36576"/>
          </a:xfrm>
          <a:prstGeom prst="ellipse">
            <a:avLst/>
          </a:prstGeom>
          <a:solidFill>
            <a:srgbClr val="00C8F0">
              <a:alpha val="28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5632704"/>
            <a:ext cx="36576" cy="36576"/>
          </a:xfrm>
          <a:prstGeom prst="ellipse">
            <a:avLst/>
          </a:prstGeom>
          <a:solidFill>
            <a:srgbClr val="00C8F0">
              <a:alpha val="28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5632704"/>
            <a:ext cx="36576" cy="36576"/>
          </a:xfrm>
          <a:prstGeom prst="ellipse">
            <a:avLst/>
          </a:prstGeom>
          <a:solidFill>
            <a:srgbClr val="00C8F0">
              <a:alpha val="28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5632704"/>
            <a:ext cx="36576" cy="36576"/>
          </a:xfrm>
          <a:prstGeom prst="ellipse">
            <a:avLst/>
          </a:prstGeom>
          <a:solidFill>
            <a:srgbClr val="00C8F0">
              <a:alpha val="28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797296"/>
            <a:ext cx="36576" cy="36576"/>
          </a:xfrm>
          <a:prstGeom prst="ellipse">
            <a:avLst/>
          </a:prstGeom>
          <a:solidFill>
            <a:srgbClr val="00C8F0">
              <a:alpha val="2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5797296"/>
            <a:ext cx="36576" cy="36576"/>
          </a:xfrm>
          <a:prstGeom prst="ellipse">
            <a:avLst/>
          </a:prstGeom>
          <a:solidFill>
            <a:srgbClr val="00C8F0">
              <a:alpha val="2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797296"/>
            <a:ext cx="36576" cy="36576"/>
          </a:xfrm>
          <a:prstGeom prst="ellipse">
            <a:avLst/>
          </a:prstGeom>
          <a:solidFill>
            <a:srgbClr val="00C8F0">
              <a:alpha val="2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" y="5797296"/>
            <a:ext cx="36576" cy="36576"/>
          </a:xfrm>
          <a:prstGeom prst="ellipse">
            <a:avLst/>
          </a:prstGeom>
          <a:solidFill>
            <a:srgbClr val="00C8F0">
              <a:alpha val="2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7008" y="5797296"/>
            <a:ext cx="36576" cy="36576"/>
          </a:xfrm>
          <a:prstGeom prst="ellipse">
            <a:avLst/>
          </a:prstGeom>
          <a:solidFill>
            <a:srgbClr val="00C8F0">
              <a:alpha val="2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961888"/>
            <a:ext cx="36576" cy="36576"/>
          </a:xfrm>
          <a:prstGeom prst="ellipse">
            <a:avLst/>
          </a:prstGeom>
          <a:solidFill>
            <a:srgbClr val="00C8F0">
              <a:alpha val="16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5961888"/>
            <a:ext cx="36576" cy="36576"/>
          </a:xfrm>
          <a:prstGeom prst="ellipse">
            <a:avLst/>
          </a:prstGeom>
          <a:solidFill>
            <a:srgbClr val="00C8F0">
              <a:alpha val="16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5961888"/>
            <a:ext cx="36576" cy="36576"/>
          </a:xfrm>
          <a:prstGeom prst="ellipse">
            <a:avLst/>
          </a:prstGeom>
          <a:solidFill>
            <a:srgbClr val="00C8F0">
              <a:alpha val="16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" y="5961888"/>
            <a:ext cx="36576" cy="36576"/>
          </a:xfrm>
          <a:prstGeom prst="ellipse">
            <a:avLst/>
          </a:prstGeom>
          <a:solidFill>
            <a:srgbClr val="00C8F0">
              <a:alpha val="16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7008" y="5961888"/>
            <a:ext cx="36576" cy="36576"/>
          </a:xfrm>
          <a:prstGeom prst="ellipse">
            <a:avLst/>
          </a:prstGeom>
          <a:solidFill>
            <a:srgbClr val="00C8F0">
              <a:alpha val="16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2194560"/>
            <a:ext cx="73152" cy="219456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2240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PROJECT  ·  COMPUTER VISION  ·  PyQt6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0020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10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BLOBTRACKER</a:t>
            </a:r>
            <a:endParaRPr lang="en-US" sz="6600" dirty="0"/>
          </a:p>
        </p:txBody>
      </p:sp>
      <p:sp>
        <p:nvSpPr>
          <p:cNvPr id="39" name="Text 37"/>
          <p:cNvSpPr/>
          <p:nvPr/>
        </p:nvSpPr>
        <p:spPr>
          <a:xfrm>
            <a:off x="1600200" y="3657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Blob Detection, Tracking,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Creative Overlay Engine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1600200" y="4937760"/>
            <a:ext cx="5943600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2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0020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60020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Baqua Abdellah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152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PyQt6  ·  OpenCV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·  SciPy  ·  Pillow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6E96"/>
          </a:solidFill>
          <a:ln w="12700">
            <a:solidFill>
              <a:srgbClr val="006E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of the talk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25880" y="267462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5880" y="322326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25880" y="377190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114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25880" y="432054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25880" y="486918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4663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5212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25880" y="541782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5212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Algorithm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0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03720" y="267462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&amp; Compositing Engine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903720" y="322326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0" y="3566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903720" y="377190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0" y="4114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903720" y="432054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00800" y="4663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903720" y="486918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4663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Results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00800" y="5212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903720" y="5417820"/>
            <a:ext cx="228600" cy="0"/>
          </a:xfrm>
          <a:prstGeom prst="line">
            <a:avLst/>
          </a:prstGeom>
          <a:noFill/>
          <a:ln w="9525">
            <a:solidFill>
              <a:srgbClr val="2A33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5212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INTRODUCTION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BlobTracker?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desktop tool for real-time computer vision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blob detection and tracking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webcam or video file input, with stable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and a stackable overlay/effects pipeline.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three worlds: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research prototypes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surveillance and monitoring tools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Creative-coding and visual installations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2423160"/>
            <a:ext cx="4572000" cy="100584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423160"/>
            <a:ext cx="73152" cy="100584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5256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 sections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3566160"/>
            <a:ext cx="4572000" cy="100584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566160"/>
            <a:ext cx="73152" cy="100584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05256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parameters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4709160"/>
            <a:ext cx="4572000" cy="100584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4709160"/>
            <a:ext cx="73152" cy="100584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4800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052560" y="4800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creative filters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OBJECTIVES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build, and why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514600"/>
            <a:ext cx="10515600" cy="960120"/>
          </a:xfrm>
          <a:prstGeom prst="rect">
            <a:avLst/>
          </a:prstGeom>
          <a:solidFill>
            <a:srgbClr val="14182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514600"/>
            <a:ext cx="73152" cy="960120"/>
          </a:xfrm>
          <a:prstGeom prst="rect">
            <a:avLst/>
          </a:prstGeom>
          <a:solidFill>
            <a:srgbClr val="CC8844"/>
          </a:solidFill>
          <a:ln w="12700">
            <a:solidFill>
              <a:srgbClr val="CC88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CV tools are either powerful but headless (OpenCV scripts) or polished but inflexible (commercial trackers). Researchers and creators need a tool that combines live, tweakable detection with a reproducible offline render path — in a single native app.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5074920" cy="11887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03320"/>
            <a:ext cx="73152" cy="1188720"/>
          </a:xfrm>
          <a:prstGeom prst="rect">
            <a:avLst/>
          </a:prstGeom>
          <a:solidFill>
            <a:srgbClr val="5A9ACC"/>
          </a:solidFill>
          <a:ln w="12700">
            <a:solidFill>
              <a:srgbClr val="5A9A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9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capture, processing, and render threads driven by a precision Qt timer.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5074920" cy="11887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703320"/>
            <a:ext cx="73152" cy="1188720"/>
          </a:xfrm>
          <a:prstGeom prst="rect">
            <a:avLst/>
          </a:prstGeom>
          <a:solidFill>
            <a:srgbClr val="7ACC7A"/>
          </a:solidFill>
          <a:ln w="12700">
            <a:solidFill>
              <a:srgbClr val="7ACC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 tracking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assignment + centroid smoothing + configurable disappearance window.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029200"/>
            <a:ext cx="5074920" cy="11887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029200"/>
            <a:ext cx="73152" cy="1188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overlay layer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5532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Stackable, drag-reorderable effect chain with hot-reloadable Python plugins.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5029200"/>
            <a:ext cx="5074920" cy="11887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5029200"/>
            <a:ext cx="73152" cy="11887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export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5532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offline render path produces reproducible output regardless of host load.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libraries used and why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606040"/>
            <a:ext cx="3749040" cy="150876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70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dynamic language with mature scientific tooling.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2606040"/>
            <a:ext cx="3749040" cy="150876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770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/ Qt 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3474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widgets, dock layouts, signals/slots, QThread workers.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2606040"/>
            <a:ext cx="3749040" cy="150876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770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6676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3474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processing, blob detection, optical flow, video I/O.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3749040" cy="150876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507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2.x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pixel ops, frame buffers, mask compositing.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4343400"/>
            <a:ext cx="3749040" cy="150876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4507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1.14+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43484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linear_sum_assignment (Hungarian) for ID-blob matching.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4343400"/>
            <a:ext cx="3749040" cy="150876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4507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6676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10.4+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6676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TrueType label rendering with anti-aliased glyphs.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worker threads coordinated by Qt signals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834640"/>
            <a:ext cx="3108960" cy="1828800"/>
          </a:xfrm>
          <a:prstGeom prst="rect">
            <a:avLst/>
          </a:prstGeom>
          <a:solidFill>
            <a:srgbClr val="1A2030"/>
          </a:solidFill>
          <a:ln w="12700">
            <a:solidFill>
              <a:srgbClr val="5A9A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A9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CaptureWorker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3703320"/>
            <a:ext cx="274320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 file 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FrameBuffer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834640"/>
            <a:ext cx="3108960" cy="1828800"/>
          </a:xfrm>
          <a:prstGeom prst="rect">
            <a:avLst/>
          </a:prstGeom>
          <a:solidFill>
            <a:srgbClr val="1A2030"/>
          </a:solidFill>
          <a:ln w="12700">
            <a:solidFill>
              <a:srgbClr val="CC88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ProcessorWorker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0560" y="3703320"/>
            <a:ext cx="274320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+ Tracker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2834640"/>
            <a:ext cx="3108960" cy="1828800"/>
          </a:xfrm>
          <a:prstGeom prst="rect">
            <a:avLst/>
          </a:prstGeom>
          <a:solidFill>
            <a:srgbClr val="1A2030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C7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main thread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55280" y="3703320"/>
            <a:ext cx="274320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+ Compositor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PreviewRenderer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0" y="3749040"/>
            <a:ext cx="365760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6640" y="3749040"/>
            <a:ext cx="365760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26880" y="4663440"/>
            <a:ext cx="0" cy="50292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0" y="5257800"/>
            <a:ext cx="3108960" cy="640080"/>
          </a:xfrm>
          <a:prstGeom prst="rect">
            <a:avLst/>
          </a:prstGeom>
          <a:solidFill>
            <a:srgbClr val="14182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VideoExporter  /  OfflineRenderer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5029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properties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53035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Backpressure-free preview — old frames dropped to keep latency low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Inter-thread communication only via Qt signals (no shared mutables)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timer is the heartbeat — decouples display from capture rate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CC8844"/>
          </a:solidFill>
          <a:ln w="12700">
            <a:solidFill>
              <a:srgbClr val="CC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DETECTION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8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pixels to clean blob candidates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CC88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43200"/>
            <a:ext cx="2103120" cy="109728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single channel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291840"/>
            <a:ext cx="137160" cy="0"/>
          </a:xfrm>
          <a:prstGeom prst="line">
            <a:avLst/>
          </a:prstGeom>
          <a:noFill/>
          <a:ln w="25400">
            <a:solidFill>
              <a:srgbClr val="CC884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88920" y="2743200"/>
            <a:ext cx="2103120" cy="109728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8036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Gaussian, odd kernel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291840"/>
            <a:ext cx="137160" cy="0"/>
          </a:xfrm>
          <a:prstGeom prst="line">
            <a:avLst/>
          </a:prstGeom>
          <a:noFill/>
          <a:ln w="25400">
            <a:solidFill>
              <a:srgbClr val="CC884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743200"/>
            <a:ext cx="2103120" cy="109728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Binarisation 0–255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3291840"/>
            <a:ext cx="137160" cy="0"/>
          </a:xfrm>
          <a:prstGeom prst="line">
            <a:avLst/>
          </a:prstGeom>
          <a:noFill/>
          <a:ln w="25400">
            <a:solidFill>
              <a:srgbClr val="CC884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69480" y="2743200"/>
            <a:ext cx="2103120" cy="109728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948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609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or simple-blob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72600" y="3291840"/>
            <a:ext cx="137160" cy="0"/>
          </a:xfrm>
          <a:prstGeom prst="line">
            <a:avLst/>
          </a:prstGeom>
          <a:noFill/>
          <a:ln w="25400">
            <a:solidFill>
              <a:srgbClr val="CC884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09760" y="2743200"/>
            <a:ext cx="2103120" cy="109728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0976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+ count bounds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 ·  processing_core.py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solidFill>
            <a:srgbClr val="14182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61772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 = cv2.cvtColor(frame, cv2.COLOR_BGR2GRAY)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  = cv2.GaussianBlur(gray, (k, k), 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bin = cv2.threshold(blur, thr, 255, cv2.THRESH_BINARY)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cnts, _ = cv2.findContours(bin, RETR_EXTERNAL, CHAIN_APPROX_SIMPLE)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blobs = [b for b in cnts if min_area &lt;= cv2.contourArea(b) &lt;= max_area]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7ACC7A"/>
          </a:solidFill>
          <a:ln w="12700">
            <a:solidFill>
              <a:srgbClr val="7AC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7AC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TRACKING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Algorithm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stable IDs across frames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7ACC7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cost matrix of Euclidean distances between previous blob centroids and current detections. SciPy's linear_sum_assignment solves the optimal one-to-one matching in O(n³).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moving average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846320"/>
            <a:ext cx="5760720" cy="777240"/>
          </a:xfrm>
          <a:prstGeom prst="rect">
            <a:avLst/>
          </a:prstGeom>
          <a:solidFill>
            <a:srgbClr val="14182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37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c[t] = α · c[t-1] + (1 - α) · c_measured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49440" y="2514600"/>
            <a:ext cx="457200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2514600"/>
            <a:ext cx="73152" cy="914400"/>
          </a:xfrm>
          <a:prstGeom prst="rect">
            <a:avLst/>
          </a:prstGeom>
          <a:solidFill>
            <a:srgbClr val="7ACC7A"/>
          </a:solidFill>
          <a:ln w="12700">
            <a:solidFill>
              <a:srgbClr val="7AC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624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history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971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Blob carries a deque of past centroids (configurable length).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3566160"/>
            <a:ext cx="457200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3566160"/>
            <a:ext cx="73152" cy="914400"/>
          </a:xfrm>
          <a:prstGeom prst="rect">
            <a:avLst/>
          </a:prstGeom>
          <a:solidFill>
            <a:srgbClr val="7ACC7A"/>
          </a:solidFill>
          <a:ln w="12700">
            <a:solidFill>
              <a:srgbClr val="7AC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6758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Disappearance window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are kept alive for N missing frames before their ID is freed.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4617720"/>
            <a:ext cx="457200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4617720"/>
            <a:ext cx="73152" cy="914400"/>
          </a:xfrm>
          <a:prstGeom prst="rect">
            <a:avLst/>
          </a:prstGeom>
          <a:solidFill>
            <a:srgbClr val="7ACC7A"/>
          </a:solidFill>
          <a:ln w="12700">
            <a:solidFill>
              <a:srgbClr val="7ACC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47274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Backwards-compatible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5074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Aliased keys ensure older presets keep working across UI revisions.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CC7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EFFECTS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&amp; Compositing Engine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layers, blend modes, and creative filters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CC7AC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60604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60604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BoundingBoxFX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 or corner ticks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60604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60604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LabelFX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coords, leader 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60604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60604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TrailFX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 trails from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0" y="260604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260604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ConnectionLineFX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blob links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365760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65760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IntraBlobFX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0965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Per-blob interior treatment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365760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365760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ZoomInsetFX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0" y="40965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Magnified inset of target blob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365760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365760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BaseFrameFX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40965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Desaturate · grain · vignette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326880" y="3657600"/>
            <a:ext cx="2697480" cy="9144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0" y="3657600"/>
            <a:ext cx="269748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CreativeFX (chain)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509760" y="40965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Stackable plugin filters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COMPOSITOR  ·  BLEND MODES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212080"/>
            <a:ext cx="2651760" cy="548640"/>
          </a:xfrm>
          <a:prstGeom prst="rect">
            <a:avLst/>
          </a:prstGeom>
          <a:solidFill>
            <a:srgbClr val="141820"/>
          </a:solidFill>
          <a:ln w="6350">
            <a:solidFill>
              <a:srgbClr val="CC7A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11880" y="5212080"/>
            <a:ext cx="2651760" cy="548640"/>
          </a:xfrm>
          <a:prstGeom prst="rect">
            <a:avLst/>
          </a:prstGeom>
          <a:solidFill>
            <a:srgbClr val="141820"/>
          </a:solidFill>
          <a:ln w="6350">
            <a:solidFill>
              <a:srgbClr val="CC7A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8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5212080"/>
            <a:ext cx="2651760" cy="548640"/>
          </a:xfrm>
          <a:prstGeom prst="rect">
            <a:avLst/>
          </a:prstGeom>
          <a:solidFill>
            <a:srgbClr val="141820"/>
          </a:solidFill>
          <a:ln w="6350">
            <a:solidFill>
              <a:srgbClr val="CC7A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189720" y="5212080"/>
            <a:ext cx="2651760" cy="548640"/>
          </a:xfrm>
          <a:prstGeom prst="rect">
            <a:avLst/>
          </a:prstGeom>
          <a:solidFill>
            <a:srgbClr val="141820"/>
          </a:solidFill>
          <a:ln w="6350">
            <a:solidFill>
              <a:srgbClr val="CC7A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972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UI 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 dockable controls, signature cyan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560320"/>
            <a:ext cx="5943600" cy="3291840"/>
          </a:xfrm>
          <a:prstGeom prst="rect">
            <a:avLst/>
          </a:prstGeom>
          <a:solidFill>
            <a:srgbClr val="0C0E10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solidFill>
            <a:srgbClr val="060708"/>
          </a:solidFill>
          <a:ln w="12700">
            <a:solidFill>
              <a:srgbClr val="0607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  ·  Real-time Blob Tracking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2834640"/>
            <a:ext cx="1828800" cy="2743200"/>
          </a:xfrm>
          <a:prstGeom prst="rect">
            <a:avLst/>
          </a:prstGeom>
          <a:solidFill>
            <a:srgbClr val="141820"/>
          </a:solidFill>
          <a:ln w="12700">
            <a:solidFill>
              <a:srgbClr val="141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3273552"/>
            <a:ext cx="1554480" cy="7315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60490" y="3273552"/>
            <a:ext cx="457200" cy="73152"/>
          </a:xfrm>
          <a:prstGeom prst="rect">
            <a:avLst/>
          </a:prstGeom>
          <a:solidFill>
            <a:srgbClr val="5A9ACC"/>
          </a:solidFill>
          <a:ln w="12700">
            <a:solidFill>
              <a:srgbClr val="5A9A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C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0120" y="3685032"/>
            <a:ext cx="1554480" cy="7315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7163" y="3685032"/>
            <a:ext cx="457200" cy="73152"/>
          </a:xfrm>
          <a:prstGeom prst="rect">
            <a:avLst/>
          </a:prstGeom>
          <a:solidFill>
            <a:srgbClr val="CC8844"/>
          </a:solidFill>
          <a:ln w="12700">
            <a:solidFill>
              <a:srgbClr val="CC88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C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4096512"/>
            <a:ext cx="1554480" cy="7315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76113" y="4096512"/>
            <a:ext cx="457200" cy="73152"/>
          </a:xfrm>
          <a:prstGeom prst="rect">
            <a:avLst/>
          </a:prstGeom>
          <a:solidFill>
            <a:srgbClr val="7ACC7A"/>
          </a:solidFill>
          <a:ln w="12700">
            <a:solidFill>
              <a:srgbClr val="7AC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C7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60120" y="4507992"/>
            <a:ext cx="1554480" cy="7315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8926" y="4507992"/>
            <a:ext cx="457200" cy="73152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0120" y="4919472"/>
            <a:ext cx="1554480" cy="7315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38341" y="4919472"/>
            <a:ext cx="457200" cy="73152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7480" y="2834640"/>
            <a:ext cx="4069080" cy="2468880"/>
          </a:xfrm>
          <a:prstGeom prst="rect">
            <a:avLst/>
          </a:prstGeom>
          <a:solidFill>
            <a:srgbClr val="060708"/>
          </a:solidFill>
          <a:ln w="12700">
            <a:solidFill>
              <a:srgbClr val="0607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2834640"/>
            <a:ext cx="4069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 SOURCE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577840"/>
            <a:ext cx="5943600" cy="274320"/>
          </a:xfrm>
          <a:prstGeom prst="rect">
            <a:avLst/>
          </a:prstGeom>
          <a:solidFill>
            <a:srgbClr val="090B0D"/>
          </a:solidFill>
          <a:ln w="12700">
            <a:solidFill>
              <a:srgbClr val="090B0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577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playing   ◉ 12 blobs   ⚡ 29.4 fps   ○ idle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6948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Dark-first palette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6948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eye strain during long sessions; #0C0E10 base, #00C8F0 accent.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3685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69480" y="3685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colour-coding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6948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group has its own title hue for fast visual scanning.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40880" y="43982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69480" y="4398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Monospace where it counts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69480" y="4672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read-outs use JetBrains Mono for stable column widths.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0880" y="51114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69480" y="5111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Dockable panel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269480" y="5385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 can be undocked, moved right, or hidden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F0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PLUGINS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creative chain without recompiling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F06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606040"/>
            <a:ext cx="3566160" cy="13716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743200"/>
            <a:ext cx="502920" cy="502920"/>
          </a:xfrm>
          <a:prstGeom prst="ellipse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0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file in plugins/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.py file is auto-discovered on scan.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3566160" cy="13716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743200"/>
            <a:ext cx="502920" cy="502920"/>
          </a:xfrm>
          <a:prstGeom prst="ellipse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0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CreativeFilter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name attribute + apply(frame) method.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2606040"/>
            <a:ext cx="3566160" cy="13716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2743200"/>
            <a:ext cx="502920" cy="502920"/>
          </a:xfrm>
          <a:prstGeom prst="ellipse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0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811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116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reload — no app restart, importlib re-binds the class.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·  plugins/vignette_pulse.py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4526280"/>
            <a:ext cx="10515600" cy="1417320"/>
          </a:xfrm>
          <a:prstGeom prst="rect">
            <a:avLst/>
          </a:prstGeom>
          <a:solidFill>
            <a:srgbClr val="14182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66344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effect_engine </a:t>
            </a:r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CreativeFilter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VignettePulseFilter</a:t>
            </a:r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(CreativeFilter):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</a:t>
            </a:r>
            <a:pPr indent="0" marL="0">
              <a:buNone/>
            </a:pPr>
            <a:r>
              <a:rPr lang="en-US" sz="120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"VignettePulseFilter"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200" b="1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frame):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i="1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darken corners proportional to radial distance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(frame * radial_mask).astype(np.uint8)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PERFORMANCE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scaling with process_scale and detect_every_n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graphicFrame>
        <p:nvGraphicFramePr>
          <p:cNvPr id="12" name="Chart 0" descr=""/>
          <p:cNvGraphicFramePr/>
          <p:nvPr/>
        </p:nvGraphicFramePr>
        <p:xfrm>
          <a:off x="822960" y="2560320"/>
          <a:ext cx="6858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795528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5528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0.5×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941832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quality/speed trade-off for 720p sources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41832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detection cost with negligible ID drift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5528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fps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418320" y="4892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at full HD on a mid-range laptop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RESULTS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Results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BlobTracker fits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606040"/>
            <a:ext cx="5074920" cy="16459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606040"/>
            <a:ext cx="5074920" cy="45720"/>
          </a:xfrm>
          <a:prstGeom prst="rect">
            <a:avLst/>
          </a:prstGeom>
          <a:solidFill>
            <a:srgbClr val="5A9ACC"/>
          </a:solidFill>
          <a:ln w="12700">
            <a:solidFill>
              <a:srgbClr val="5A9A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5A9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Education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611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hands-on illustration of detection, tracking, and assignment.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606040"/>
            <a:ext cx="5074920" cy="16459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606040"/>
            <a:ext cx="5074920" cy="45720"/>
          </a:xfrm>
          <a:prstGeom prst="rect">
            <a:avLst/>
          </a:prstGeom>
          <a:solidFill>
            <a:srgbClr val="7ACC7A"/>
          </a:solidFill>
          <a:ln w="12700">
            <a:solidFill>
              <a:srgbClr val="7ACC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C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3611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movement counting on archived video files.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389120"/>
            <a:ext cx="5074920" cy="16459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389120"/>
            <a:ext cx="5074920" cy="45720"/>
          </a:xfrm>
          <a:prstGeom prst="rect">
            <a:avLst/>
          </a:prstGeom>
          <a:solidFill>
            <a:srgbClr val="CC7ACC"/>
          </a:solidFill>
          <a:ln w="12700">
            <a:solidFill>
              <a:srgbClr val="CC7A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C7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Arts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motion graphics for performance and installation work.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4389120"/>
            <a:ext cx="5074920" cy="1645920"/>
          </a:xfrm>
          <a:prstGeom prst="rect">
            <a:avLst/>
          </a:prstGeom>
          <a:solidFill>
            <a:srgbClr val="1A2030"/>
          </a:solidFill>
          <a:ln w="6350">
            <a:solidFill>
              <a:srgbClr val="2A33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4389120"/>
            <a:ext cx="5074920" cy="45720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0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4652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parameter tuning without code edits via the parameter store.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" cy="502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CONCLUSION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·  Baqua Abdellah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and what comes next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+ tracking pipeline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overlay effects with blend modes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system with hot reload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offline render path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preset save/load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docs in 6 reference files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45720" cy="457200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smoothing under occlusion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383280"/>
            <a:ext cx="45720" cy="457200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383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CUDA / OpenCL backend for HD/4K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931920"/>
            <a:ext cx="45720" cy="457200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931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detector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160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YOLOv8 / DETR for object classes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480560"/>
            <a:ext cx="45720" cy="457200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480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Multi-monitor preview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4709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operator UI from on-screen output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5029200"/>
            <a:ext cx="45720" cy="457200"/>
          </a:xfrm>
          <a:prstGeom prst="rect">
            <a:avLst/>
          </a:prstGeom>
          <a:solidFill>
            <a:srgbClr val="F06090"/>
          </a:solidFill>
          <a:ln w="12700">
            <a:solidFill>
              <a:srgbClr val="F06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029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5257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Shareable, versioned effect packs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E96"/>
          </a:solidFill>
          <a:ln w="12700">
            <a:solidFill>
              <a:srgbClr val="006E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9863" y="4052231"/>
            <a:ext cx="45720" cy="45720"/>
          </a:xfrm>
          <a:prstGeom prst="ellipse">
            <a:avLst/>
          </a:prstGeom>
          <a:solidFill>
            <a:srgbClr val="00C8F0">
              <a:alpha val="8447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849" y="866100"/>
            <a:ext cx="45720" cy="45720"/>
          </a:xfrm>
          <a:prstGeom prst="ellipse">
            <a:avLst/>
          </a:prstGeom>
          <a:solidFill>
            <a:srgbClr val="00C8F0">
              <a:alpha val="5618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59643" y="1621001"/>
            <a:ext cx="45720" cy="45720"/>
          </a:xfrm>
          <a:prstGeom prst="ellipse">
            <a:avLst/>
          </a:prstGeom>
          <a:solidFill>
            <a:srgbClr val="00C8F0">
              <a:alpha val="14677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4976" y="1598260"/>
            <a:ext cx="45720" cy="45720"/>
          </a:xfrm>
          <a:prstGeom prst="ellipse">
            <a:avLst/>
          </a:prstGeom>
          <a:solidFill>
            <a:srgbClr val="00C8F0">
              <a:alpha val="25552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5356" y="6218656"/>
            <a:ext cx="45720" cy="45720"/>
          </a:xfrm>
          <a:prstGeom prst="ellipse">
            <a:avLst/>
          </a:prstGeom>
          <a:solidFill>
            <a:srgbClr val="00C8F0">
              <a:alpha val="10148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7894" y="4410744"/>
            <a:ext cx="45720" cy="45720"/>
          </a:xfrm>
          <a:prstGeom prst="ellipse">
            <a:avLst/>
          </a:prstGeom>
          <a:solidFill>
            <a:srgbClr val="00C8F0">
              <a:alpha val="27371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58556" y="6252762"/>
            <a:ext cx="45720" cy="45720"/>
          </a:xfrm>
          <a:prstGeom prst="ellipse">
            <a:avLst/>
          </a:prstGeom>
          <a:solidFill>
            <a:srgbClr val="00C8F0">
              <a:alpha val="17083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9127" y="733591"/>
            <a:ext cx="45720" cy="45720"/>
          </a:xfrm>
          <a:prstGeom prst="ellipse">
            <a:avLst/>
          </a:prstGeom>
          <a:solidFill>
            <a:srgbClr val="00C8F0">
              <a:alpha val="12484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7542" y="2271322"/>
            <a:ext cx="45720" cy="45720"/>
          </a:xfrm>
          <a:prstGeom prst="ellipse">
            <a:avLst/>
          </a:prstGeom>
          <a:solidFill>
            <a:srgbClr val="00C8F0">
              <a:alpha val="21324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7447" y="3466310"/>
            <a:ext cx="45720" cy="45720"/>
          </a:xfrm>
          <a:prstGeom prst="ellipse">
            <a:avLst/>
          </a:prstGeom>
          <a:solidFill>
            <a:srgbClr val="00C8F0">
              <a:alpha val="25304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00944" y="2031337"/>
            <a:ext cx="45720" cy="45720"/>
          </a:xfrm>
          <a:prstGeom prst="ellipse">
            <a:avLst/>
          </a:prstGeom>
          <a:solidFill>
            <a:srgbClr val="00C8F0">
              <a:alpha val="23863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3191" y="4692070"/>
            <a:ext cx="45720" cy="45720"/>
          </a:xfrm>
          <a:prstGeom prst="ellipse">
            <a:avLst/>
          </a:prstGeom>
          <a:solidFill>
            <a:srgbClr val="00C8F0">
              <a:alpha val="24579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34040" y="5834048"/>
            <a:ext cx="45720" cy="45720"/>
          </a:xfrm>
          <a:prstGeom prst="ellipse">
            <a:avLst/>
          </a:prstGeom>
          <a:solidFill>
            <a:srgbClr val="00C8F0">
              <a:alpha val="5419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27603" y="1636429"/>
            <a:ext cx="45720" cy="45720"/>
          </a:xfrm>
          <a:prstGeom prst="ellipse">
            <a:avLst/>
          </a:prstGeom>
          <a:solidFill>
            <a:srgbClr val="00C8F0">
              <a:alpha val="28686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6634" y="5330761"/>
            <a:ext cx="45720" cy="45720"/>
          </a:xfrm>
          <a:prstGeom prst="ellipse">
            <a:avLst/>
          </a:prstGeom>
          <a:solidFill>
            <a:srgbClr val="00C8F0">
              <a:alpha val="26298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02800" y="2401383"/>
            <a:ext cx="45720" cy="45720"/>
          </a:xfrm>
          <a:prstGeom prst="ellipse">
            <a:avLst/>
          </a:prstGeom>
          <a:solidFill>
            <a:srgbClr val="00C8F0">
              <a:alpha val="24276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4569" y="5179436"/>
            <a:ext cx="45720" cy="45720"/>
          </a:xfrm>
          <a:prstGeom prst="ellipse">
            <a:avLst/>
          </a:prstGeom>
          <a:solidFill>
            <a:srgbClr val="00C8F0">
              <a:alpha val="6321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20765" y="1121986"/>
            <a:ext cx="45720" cy="45720"/>
          </a:xfrm>
          <a:prstGeom prst="ellipse">
            <a:avLst/>
          </a:prstGeom>
          <a:solidFill>
            <a:srgbClr val="00C8F0">
              <a:alpha val="1325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22255" y="4670500"/>
            <a:ext cx="45720" cy="45720"/>
          </a:xfrm>
          <a:prstGeom prst="ellipse">
            <a:avLst/>
          </a:prstGeom>
          <a:solidFill>
            <a:srgbClr val="00C8F0">
              <a:alpha val="7671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5142" y="3765246"/>
            <a:ext cx="45720" cy="45720"/>
          </a:xfrm>
          <a:prstGeom prst="ellipse">
            <a:avLst/>
          </a:prstGeom>
          <a:solidFill>
            <a:srgbClr val="00C8F0">
              <a:alpha val="19015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99903" y="3945332"/>
            <a:ext cx="45720" cy="45720"/>
          </a:xfrm>
          <a:prstGeom prst="ellipse">
            <a:avLst/>
          </a:prstGeom>
          <a:solidFill>
            <a:srgbClr val="00C8F0">
              <a:alpha val="17638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51674" y="5593953"/>
            <a:ext cx="45720" cy="45720"/>
          </a:xfrm>
          <a:prstGeom prst="ellipse">
            <a:avLst/>
          </a:prstGeom>
          <a:solidFill>
            <a:srgbClr val="00C8F0">
              <a:alpha val="14245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59749" y="4032953"/>
            <a:ext cx="45720" cy="45720"/>
          </a:xfrm>
          <a:prstGeom prst="ellipse">
            <a:avLst/>
          </a:prstGeom>
          <a:solidFill>
            <a:srgbClr val="00C8F0">
              <a:alpha val="15562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02953" y="1077131"/>
            <a:ext cx="45720" cy="45720"/>
          </a:xfrm>
          <a:prstGeom prst="ellipse">
            <a:avLst/>
          </a:prstGeom>
          <a:solidFill>
            <a:srgbClr val="00C8F0">
              <a:alpha val="2898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78723" y="5488968"/>
            <a:ext cx="45720" cy="45720"/>
          </a:xfrm>
          <a:prstGeom prst="ellipse">
            <a:avLst/>
          </a:prstGeom>
          <a:solidFill>
            <a:srgbClr val="00C8F0">
              <a:alpha val="8353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15444" y="2413416"/>
            <a:ext cx="45720" cy="45720"/>
          </a:xfrm>
          <a:prstGeom prst="ellipse">
            <a:avLst/>
          </a:prstGeom>
          <a:solidFill>
            <a:srgbClr val="00C8F0">
              <a:alpha val="12893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18954" y="4627619"/>
            <a:ext cx="45720" cy="45720"/>
          </a:xfrm>
          <a:prstGeom prst="ellipse">
            <a:avLst/>
          </a:prstGeom>
          <a:solidFill>
            <a:srgbClr val="00C8F0">
              <a:alpha val="20351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91045" y="1727802"/>
            <a:ext cx="45720" cy="45720"/>
          </a:xfrm>
          <a:prstGeom prst="ellipse">
            <a:avLst/>
          </a:prstGeom>
          <a:solidFill>
            <a:srgbClr val="00C8F0">
              <a:alpha val="9224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8455" y="5524944"/>
            <a:ext cx="45720" cy="45720"/>
          </a:xfrm>
          <a:prstGeom prst="ellipse">
            <a:avLst/>
          </a:prstGeom>
          <a:solidFill>
            <a:srgbClr val="00C8F0">
              <a:alpha val="6952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83891" y="3213413"/>
            <a:ext cx="45720" cy="45720"/>
          </a:xfrm>
          <a:prstGeom prst="ellipse">
            <a:avLst/>
          </a:prstGeom>
          <a:solidFill>
            <a:srgbClr val="00C8F0">
              <a:alpha val="18239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 ·  DISCUSSION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200" dirty="0"/>
          </a:p>
        </p:txBody>
      </p:sp>
      <p:sp>
        <p:nvSpPr>
          <p:cNvPr id="35" name="Shape 33"/>
          <p:cNvSpPr/>
          <p:nvPr/>
        </p:nvSpPr>
        <p:spPr>
          <a:xfrm>
            <a:off x="914400" y="4023360"/>
            <a:ext cx="4572000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BlobTracker — Real-time Computer Vision Desktop App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Hachim Boubdillah   ·   Baqua Abdellah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6E96"/>
          </a:solidFill>
          <a:ln w="12700">
            <a:solidFill>
              <a:srgbClr val="006E9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BlobTracker — Real-time Blob Tracking and Creative Overlays</dc:title>
  <dc:subject>Computer Vision · PyQt6 Desktop Application</dc:subject>
  <dc:creator>Hachim Boubdillah and Baqua Abdellah</dc:creator>
  <cp:lastModifiedBy>Hachim Boubdillah and Baqua Abdellah</cp:lastModifiedBy>
  <cp:revision>1</cp:revision>
  <dcterms:created xsi:type="dcterms:W3CDTF">2026-05-12T10:27:49Z</dcterms:created>
  <dcterms:modified xsi:type="dcterms:W3CDTF">2026-05-12T10:27:49Z</dcterms:modified>
</cp:coreProperties>
</file>